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10545775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011680" cy="4114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A56DB"/>
                </a:solidFill>
              </a:defRPr>
            </a:pPr>
            <a:r>
              <a:t>ART CURATION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81816"/>
                </a:solidFill>
                <a:latin typeface="Georgia"/>
              </a:defRPr>
            </a:pPr>
            <a:r>
              <a:t>ARTPICK</a:t>
            </a:r>
          </a:p>
          <a:p>
            <a:pPr>
              <a:spcBef>
                <a:spcPts val="1000"/>
              </a:spcBef>
              <a:defRPr sz="2800" b="1">
                <a:solidFill>
                  <a:srgbClr val="1A56DB"/>
                </a:solidFill>
                <a:latin typeface="Malgun Gothic"/>
              </a:defRPr>
            </a:pPr>
            <a:r>
              <a:t>당신의 취향이 작품을 만나는 곳</a:t>
            </a:r>
          </a:p>
          <a:p>
            <a:pPr>
              <a:spcBef>
                <a:spcPts val="1200"/>
              </a:spcBef>
              <a:defRPr sz="1400">
                <a:solidFill>
                  <a:srgbClr val="6E6E69"/>
                </a:solidFill>
                <a:latin typeface="Malgun Gothic"/>
              </a:defRPr>
            </a:pPr>
            <a:r>
              <a:t>새로운 작가와 작품을 발견하고 소장하는 차세대 아트 큐레이션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6E69"/>
                </a:solidFill>
              </a:defRPr>
            </a:pPr>
            <a:r>
              <a:t>2026.09  |  ARTPICK Service Launch Presentation  |  ARTISTS · ARTWORKS · COMMUNITY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BACKGROUND &amp; PROBLEM</a:t>
            </a:r>
          </a:p>
          <a:p>
            <a:pPr>
              <a:spcBef>
                <a:spcPts val="400"/>
              </a:spcBef>
              <a:defRPr sz="2400" b="1">
                <a:solidFill>
                  <a:srgbClr val="181816"/>
                </a:solidFill>
                <a:latin typeface="Malgun Gothic"/>
              </a:defRPr>
            </a:pPr>
            <a:r>
              <a:t>기존 미술 시장의 한계와 ARTPICK의 출발점</a:t>
            </a:r>
          </a:p>
          <a:p>
            <a:pPr>
              <a:spcBef>
                <a:spcPts val="400"/>
              </a:spcBef>
              <a:defRPr sz="1200">
                <a:solidFill>
                  <a:srgbClr val="6E6E69"/>
                </a:solidFill>
                <a:latin typeface="Malgun Gothic"/>
              </a:defRPr>
            </a:pPr>
            <a:r>
              <a:t>누구나 미술을 쉽게 발견하고 소장할 수 있도록 문턱을 낮춥니다.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4134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648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01. 높은 진입 장벽</a:t>
            </a:r>
          </a:p>
          <a:p>
            <a:pPr>
              <a:spcBef>
                <a:spcPts val="800"/>
              </a:spcBef>
              <a:defRPr sz="1800" b="1">
                <a:solidFill>
                  <a:srgbClr val="181816"/>
                </a:solidFill>
                <a:latin typeface="Malgun Gothic"/>
              </a:defRPr>
            </a:pPr>
            <a:r>
              <a:t>정보 비대칭성과 폐쇄적 시장</a:t>
            </a:r>
          </a:p>
          <a:p>
            <a:pPr>
              <a:spcBef>
                <a:spcPts val="1400"/>
              </a:spcBef>
              <a:defRPr sz="1250">
                <a:solidFill>
                  <a:srgbClr val="6E6E69"/>
                </a:solidFill>
                <a:latin typeface="Malgun Gothic"/>
              </a:defRPr>
            </a:pPr>
            <a:r>
              <a:t>갤러리와 옥션 중심의 유통 구조로 인해 가격이 불투명하고 초보 컬렉터의 진입 장벽이 높았습니다.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34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28648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02. 작가의 노출 기회 부족</a:t>
            </a:r>
          </a:p>
          <a:p>
            <a:pPr>
              <a:spcBef>
                <a:spcPts val="800"/>
              </a:spcBef>
              <a:defRPr sz="1800" b="1">
                <a:solidFill>
                  <a:srgbClr val="181816"/>
                </a:solidFill>
                <a:latin typeface="Malgun Gothic"/>
              </a:defRPr>
            </a:pPr>
            <a:r>
              <a:t>신진 아티스트의 고립</a:t>
            </a:r>
          </a:p>
          <a:p>
            <a:pPr>
              <a:spcBef>
                <a:spcPts val="1400"/>
              </a:spcBef>
              <a:defRPr sz="1250">
                <a:solidFill>
                  <a:srgbClr val="6E6E69"/>
                </a:solidFill>
                <a:latin typeface="Malgun Gothic"/>
              </a:defRPr>
            </a:pPr>
            <a:r>
              <a:t>매년 수천 명의 유망 작가가 배출되지만, 오프라인 갤러리 전시 기회는 극소수에게만 주어졌습니다.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1345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2011680"/>
            <a:ext cx="286481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03. 파편화된 취향 탐색</a:t>
            </a:r>
          </a:p>
          <a:p>
            <a:pPr>
              <a:spcBef>
                <a:spcPts val="800"/>
              </a:spcBef>
              <a:defRPr sz="1800" b="1">
                <a:solidFill>
                  <a:srgbClr val="181816"/>
                </a:solidFill>
                <a:latin typeface="Malgun Gothic"/>
              </a:defRPr>
            </a:pPr>
            <a:r>
              <a:t>개인 맞춤형 큐레이션 부재</a:t>
            </a:r>
          </a:p>
          <a:p>
            <a:pPr>
              <a:spcBef>
                <a:spcPts val="1400"/>
              </a:spcBef>
              <a:defRPr sz="1250">
                <a:solidFill>
                  <a:srgbClr val="6E6E69"/>
                </a:solidFill>
                <a:latin typeface="Malgun Gothic"/>
              </a:defRPr>
            </a:pPr>
            <a:r>
              <a:t>방대한 미술 작품 속에서 자신의 취향, 인테리어 분위기에 어울리는 원화를 직관적으로 찾기 어려웠습니다.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BRAND IDENTITY &amp; VALUE</a:t>
            </a:r>
          </a:p>
          <a:p>
            <a:pPr>
              <a:spcBef>
                <a:spcPts val="400"/>
              </a:spcBef>
              <a:defRPr sz="2400" b="1">
                <a:solidFill>
                  <a:srgbClr val="181816"/>
                </a:solidFill>
                <a:latin typeface="Malgun Gothic"/>
              </a:defRPr>
            </a:pPr>
            <a:r>
              <a:t>ARTPICK의 철학: 예술이 사람을 더 가깝게 만듭니다</a:t>
            </a:r>
          </a:p>
          <a:p>
            <a:pPr>
              <a:spcBef>
                <a:spcPts val="400"/>
              </a:spcBef>
              <a:defRPr sz="1200">
                <a:solidFill>
                  <a:srgbClr val="6E6E69"/>
                </a:solidFill>
                <a:latin typeface="Malgun Gothic"/>
              </a:defRPr>
            </a:pPr>
            <a:r>
              <a:t>공간을 바꾸는 작은 선택이 예술 생태계의 내일을 만듭니다.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297680"/>
          </a:xfrm>
          <a:prstGeom prst="roundRect">
            <a:avLst/>
          </a:prstGeom>
          <a:solidFill>
            <a:srgbClr val="181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CORE PHILOSOPHY</a:t>
            </a:r>
          </a:p>
          <a:p>
            <a:pPr>
              <a:spcBef>
                <a:spcPts val="1200"/>
              </a:spcBef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“예술을 고르는 당신이,</a:t>
            </a:r>
            <a:br/>
            <a:r>
              <a:t>새로운 이야기를 만듭니다.”</a:t>
            </a:r>
          </a:p>
          <a:p>
            <a:pPr>
              <a:spcBef>
                <a:spcPts val="1600"/>
              </a:spcBef>
              <a:defRPr sz="1300">
                <a:solidFill>
                  <a:srgbClr val="C8C8C8"/>
                </a:solidFill>
                <a:latin typeface="Malgun Gothic"/>
              </a:defRPr>
            </a:pPr>
            <a:r>
              <a:t>Good Art Brings People Together.</a:t>
            </a:r>
            <a:br/>
            <a:r>
              <a:t>원화를 소장하는 특별한 설렘과 작가의 진정성 있는 스토리를 온전히 연결합니다.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508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5564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ARTISTS</a:t>
            </a:r>
          </a:p>
          <a:p>
            <a:pPr>
              <a:spcBef>
                <a:spcPts val="200"/>
              </a:spcBef>
              <a:defRPr sz="1100">
                <a:solidFill>
                  <a:srgbClr val="181816"/>
                </a:solidFill>
                <a:latin typeface="Malgun Gothic"/>
              </a:defRPr>
            </a:pPr>
            <a:r>
              <a:t>창작에만 몰입할 수 있는 투명한 유통 생태계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1508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85292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ARTWORKS</a:t>
            </a:r>
          </a:p>
          <a:p>
            <a:pPr>
              <a:spcBef>
                <a:spcPts val="200"/>
              </a:spcBef>
              <a:defRPr sz="1100">
                <a:solidFill>
                  <a:srgbClr val="181816"/>
                </a:solidFill>
                <a:latin typeface="Malgun Gothic"/>
              </a:defRPr>
            </a:pPr>
            <a:r>
              <a:t>회화·사진·일러스트·조각을 아우르는 엄선된 컬렉션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508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95020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COMMUNITY</a:t>
            </a:r>
          </a:p>
          <a:p>
            <a:pPr>
              <a:spcBef>
                <a:spcPts val="200"/>
              </a:spcBef>
              <a:defRPr sz="1100">
                <a:solidFill>
                  <a:srgbClr val="181816"/>
                </a:solidFill>
                <a:latin typeface="Malgun Gothic"/>
              </a:defRPr>
            </a:pPr>
            <a:r>
              <a:t>작가와 컬렉터가 소통하고 전시를 함께하는 커뮤니티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937759"/>
            <a:ext cx="51508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5047487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A BRIGHTER TOMORROW</a:t>
            </a:r>
          </a:p>
          <a:p>
            <a:pPr>
              <a:spcBef>
                <a:spcPts val="200"/>
              </a:spcBef>
              <a:defRPr sz="1100">
                <a:solidFill>
                  <a:srgbClr val="181816"/>
                </a:solidFill>
                <a:latin typeface="Malgun Gothic"/>
              </a:defRPr>
            </a:pPr>
            <a:r>
              <a:t>작은 소장이 모여 예술의 내일을 밝히는 선순환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WEB SERVICE FEATURES</a:t>
            </a:r>
          </a:p>
          <a:p>
            <a:pPr>
              <a:spcBef>
                <a:spcPts val="400"/>
              </a:spcBef>
              <a:defRPr sz="2400" b="1">
                <a:solidFill>
                  <a:srgbClr val="181816"/>
                </a:solidFill>
                <a:latin typeface="Malgun Gothic"/>
              </a:defRPr>
            </a:pPr>
            <a:r>
              <a:t>데스크톱 웹: 미술관 도록 수준의 우아한 큐레이션</a:t>
            </a:r>
          </a:p>
          <a:p>
            <a:pPr>
              <a:spcBef>
                <a:spcPts val="400"/>
              </a:spcBef>
              <a:defRPr sz="1200">
                <a:solidFill>
                  <a:srgbClr val="6E6E69"/>
                </a:solidFill>
                <a:latin typeface="Malgun Gothic"/>
              </a:defRPr>
            </a:pPr>
            <a:r>
              <a:t>고해상도 비주얼 중심 UI와 직관적인 카테고리 인터랙션을 제공합니다.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508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Malgun Gothic"/>
              </a:defRPr>
            </a:pPr>
            <a:r>
              <a:t>01. 히어로 갤러리 &amp; 지표</a:t>
            </a:r>
          </a:p>
          <a:p>
            <a:pPr>
              <a:spcBef>
                <a:spcPts val="200"/>
              </a:spcBef>
              <a:defRPr sz="1200" b="1">
                <a:solidFill>
                  <a:srgbClr val="181816"/>
                </a:solidFill>
                <a:latin typeface="Malgun Gothic"/>
              </a:defRPr>
            </a:pPr>
            <a:r>
              <a:t>1,200+ 작가, 8,500+ 작품</a:t>
            </a:r>
          </a:p>
          <a:p>
            <a:pPr>
              <a:spcBef>
                <a:spcPts val="600"/>
              </a:spcBef>
              <a:defRPr sz="1100">
                <a:solidFill>
                  <a:srgbClr val="6E6E69"/>
                </a:solidFill>
                <a:latin typeface="Malgun Gothic"/>
              </a:defRPr>
            </a:pPr>
            <a:r>
              <a:t>대형 블루 추상화 중심의 미술관 감성 레이아웃과 실시간 플랫폼 성장 수치를 제공하여 브랜드 신뢰도를 극대화합니다.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508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Malgun Gothic"/>
              </a:defRPr>
            </a:pPr>
            <a:r>
              <a:t>02. 주목할 만한 작품 피드</a:t>
            </a:r>
          </a:p>
          <a:p>
            <a:pPr>
              <a:spcBef>
                <a:spcPts val="200"/>
              </a:spcBef>
              <a:defRPr sz="1200" b="1">
                <a:solidFill>
                  <a:srgbClr val="181816"/>
                </a:solidFill>
                <a:latin typeface="Malgun Gothic"/>
              </a:defRPr>
            </a:pPr>
            <a:r>
              <a:t>회화·사진·일러스트·조각 필터</a:t>
            </a:r>
          </a:p>
          <a:p>
            <a:pPr>
              <a:spcBef>
                <a:spcPts val="600"/>
              </a:spcBef>
              <a:defRPr sz="1100">
                <a:solidFill>
                  <a:srgbClr val="6E6E69"/>
                </a:solidFill>
                <a:latin typeface="Malgun Gothic"/>
              </a:defRPr>
            </a:pPr>
            <a:r>
              <a:t>원클릭 카테고리 필터링과 비대칭 갤러리 그리드로 작품의 매력을 시각적으로 극대화하며, 즉시 찜(좋아요) 저장이 가능합니다.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51508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Malgun Gothic"/>
              </a:defRPr>
            </a:pPr>
            <a:r>
              <a:t>03. 작품 상세 및 소장 문의</a:t>
            </a:r>
          </a:p>
          <a:p>
            <a:pPr>
              <a:spcBef>
                <a:spcPts val="200"/>
              </a:spcBef>
              <a:defRPr sz="1200" b="1">
                <a:solidFill>
                  <a:srgbClr val="181816"/>
                </a:solidFill>
                <a:latin typeface="Malgun Gothic"/>
              </a:defRPr>
            </a:pPr>
            <a:r>
              <a:t>투명한 규격·기법 및 보증서</a:t>
            </a:r>
          </a:p>
          <a:p>
            <a:pPr>
              <a:spcBef>
                <a:spcPts val="600"/>
              </a:spcBef>
              <a:defRPr sz="1100">
                <a:solidFill>
                  <a:srgbClr val="6E6E69"/>
                </a:solidFill>
                <a:latin typeface="Malgun Gothic"/>
              </a:defRPr>
            </a:pPr>
            <a:r>
              <a:t>호수, 크기, 재료, 제작연도, 친필 서명 진품 보증서를 투명하게 안내하고 원클릭 소장/구매 상담 시스템을 연결합니다.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508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Malgun Gothic"/>
              </a:defRPr>
            </a:pPr>
            <a:r>
              <a:t>04. 실시간 작품 등록 스튜디오</a:t>
            </a:r>
          </a:p>
          <a:p>
            <a:pPr>
              <a:spcBef>
                <a:spcPts val="200"/>
              </a:spcBef>
              <a:defRPr sz="1200" b="1">
                <a:solidFill>
                  <a:srgbClr val="181816"/>
                </a:solidFill>
                <a:latin typeface="Malgun Gothic"/>
              </a:defRPr>
            </a:pPr>
            <a:r>
              <a:t>창작자를 위한 직관적 업로드</a:t>
            </a:r>
          </a:p>
          <a:p>
            <a:pPr>
              <a:spcBef>
                <a:spcPts val="600"/>
              </a:spcBef>
              <a:defRPr sz="1100">
                <a:solidFill>
                  <a:srgbClr val="6E6E69"/>
                </a:solidFill>
                <a:latin typeface="Malgun Gothic"/>
              </a:defRPr>
            </a:pPr>
            <a:r>
              <a:t>신진 작가가 자신의 작품과 작가 노트를 손쉽게 등록하여 즉시 플랫폼에 노출하고 컬렉터와 매칭될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MOBILE SERVICE FEATURES</a:t>
            </a:r>
          </a:p>
          <a:p>
            <a:pPr>
              <a:spcBef>
                <a:spcPts val="400"/>
              </a:spcBef>
              <a:defRPr sz="2400" b="1">
                <a:solidFill>
                  <a:srgbClr val="181816"/>
                </a:solidFill>
                <a:latin typeface="Malgun Gothic"/>
              </a:defRPr>
            </a:pPr>
            <a:r>
              <a:t>모바일 앱: 손안에서 만나는 피드 &amp; 작가 프로필</a:t>
            </a:r>
          </a:p>
          <a:p>
            <a:pPr>
              <a:spcBef>
                <a:spcPts val="400"/>
              </a:spcBef>
              <a:defRPr sz="1200">
                <a:solidFill>
                  <a:srgbClr val="6E6E69"/>
                </a:solidFill>
                <a:latin typeface="Malgun Gothic"/>
              </a:defRPr>
            </a:pPr>
            <a:r>
              <a:t>일상 속에서 가볍게 작품을 탐색하고 선호하는 작가를 팔로우합니다.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Malgun Gothic"/>
              </a:defRPr>
            </a:pPr>
            <a:r>
              <a:t>화면 1: 모바일 홈 피드 탐색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통합 퀵 검색창: 작품명, 작가명, 키워드 실시간 서치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원터치 카테고리 필터: 전체, 회화, 사진, 일러스트, 조각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2열 비주얼 카드 피드: 최적화된 모바일 감상 경험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원터치 하트(좋아요): 마이페이지 찜 보관함 실시간 동기화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하단 글로벌 탭바: [홈, 탐색, 등록, 좋아요, 마이] 5개 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DB"/>
                </a:solidFill>
                <a:latin typeface="Malgun Gothic"/>
              </a:defRPr>
            </a:pPr>
            <a:r>
              <a:t>화면 2: 작가 프로필 허브 (김서영 작가)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작가 아이덴티티: 원형 아바타, 대표 커버 배너, 핸들(@seoyoung_kim)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팬덤 팔로우 시스템: 원클릭 팔로우 토글 및 팔로워 수 실시간 카운트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핵심 활동 지표: 1.2만 팔로워 · 24 작품 · 3 전시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감성 작가 노트: “평범한 것들이 모여 특별한 하루가 됩니다.”</a:t>
            </a:r>
          </a:p>
          <a:p>
            <a:pPr>
              <a:spcBef>
                <a:spcPts val="800"/>
              </a:spcBef>
              <a:defRPr sz="1200">
                <a:solidFill>
                  <a:srgbClr val="181816"/>
                </a:solidFill>
                <a:latin typeface="Malgun Gothic"/>
              </a:defRPr>
            </a:pPr>
            <a:r>
              <a:t>• 4대 탭 네비게이션: [작품(3x3 썸네일 그리드), 소개, 전시 이력, 소식]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CURATED CREATORS</a:t>
            </a:r>
          </a:p>
          <a:p>
            <a:pPr>
              <a:spcBef>
                <a:spcPts val="400"/>
              </a:spcBef>
              <a:defRPr sz="2400" b="1">
                <a:solidFill>
                  <a:srgbClr val="181816"/>
                </a:solidFill>
                <a:latin typeface="Malgun Gothic"/>
              </a:defRPr>
            </a:pPr>
            <a:r>
              <a:t>다양한 장르를 아우르는 ARTPICK 대표 라인업</a:t>
            </a:r>
          </a:p>
          <a:p>
            <a:pPr>
              <a:spcBef>
                <a:spcPts val="400"/>
              </a:spcBef>
              <a:defRPr sz="1200">
                <a:solidFill>
                  <a:srgbClr val="6E6E69"/>
                </a:solidFill>
                <a:latin typeface="Malgun Gothic"/>
              </a:defRPr>
            </a:pPr>
            <a:r>
              <a:t>회화부터 사진, 조각, 일러스트까지 검증된 아티스트들이 함께합니다.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6E69"/>
                </a:solidFill>
                <a:latin typeface="Malgun Gothic"/>
              </a:defRPr>
            </a:pPr>
            <a:r>
              <a:t>김서영</a:t>
            </a:r>
          </a:p>
          <a:p>
            <a:pPr>
              <a:spcBef>
                <a:spcPts val="2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푸른 하루</a:t>
            </a:r>
          </a:p>
          <a:p>
            <a:pPr>
              <a:spcBef>
                <a:spcPts val="400"/>
              </a:spcBef>
              <a:defRPr sz="1500" b="1">
                <a:solidFill>
                  <a:srgbClr val="1A56DB"/>
                </a:solidFill>
              </a:defRPr>
            </a:pPr>
            <a:r>
              <a:t>₩1,200,000</a:t>
            </a:r>
          </a:p>
          <a:p>
            <a:pPr>
              <a:spcBef>
                <a:spcPts val="400"/>
              </a:spcBef>
              <a:defRPr sz="1050">
                <a:solidFill>
                  <a:srgbClr val="6E6E69"/>
                </a:solidFill>
                <a:latin typeface="Malgun Gothic"/>
              </a:defRPr>
            </a:pPr>
            <a:r>
              <a:t>회화 / 수국 유화 30호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6E69"/>
                </a:solidFill>
                <a:latin typeface="Malgun Gothic"/>
              </a:defRPr>
            </a:pPr>
            <a:r>
              <a:t>이준호</a:t>
            </a:r>
          </a:p>
          <a:p>
            <a:pPr>
              <a:spcBef>
                <a:spcPts val="2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저녁의 바다</a:t>
            </a:r>
          </a:p>
          <a:p>
            <a:pPr>
              <a:spcBef>
                <a:spcPts val="400"/>
              </a:spcBef>
              <a:defRPr sz="1500" b="1">
                <a:solidFill>
                  <a:srgbClr val="1A56DB"/>
                </a:solidFill>
              </a:defRPr>
            </a:pPr>
            <a:r>
              <a:t>₩800,000</a:t>
            </a:r>
          </a:p>
          <a:p>
            <a:pPr>
              <a:spcBef>
                <a:spcPts val="400"/>
              </a:spcBef>
              <a:defRPr sz="1050">
                <a:solidFill>
                  <a:srgbClr val="6E6E69"/>
                </a:solidFill>
                <a:latin typeface="Malgun Gothic"/>
              </a:defRPr>
            </a:pPr>
            <a:r>
              <a:t>사진 / 아날로그 필름 프린트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6E69"/>
                </a:solidFill>
                <a:latin typeface="Malgun Gothic"/>
              </a:defRPr>
            </a:pPr>
            <a:r>
              <a:t>정민지</a:t>
            </a:r>
          </a:p>
          <a:p>
            <a:pPr>
              <a:spcBef>
                <a:spcPts val="2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그리고, 또 하루</a:t>
            </a:r>
          </a:p>
          <a:p>
            <a:pPr>
              <a:spcBef>
                <a:spcPts val="400"/>
              </a:spcBef>
              <a:defRPr sz="1500" b="1">
                <a:solidFill>
                  <a:srgbClr val="1A56DB"/>
                </a:solidFill>
              </a:defRPr>
            </a:pPr>
            <a:r>
              <a:t>₩950,000</a:t>
            </a:r>
          </a:p>
          <a:p>
            <a:pPr>
              <a:spcBef>
                <a:spcPts val="400"/>
              </a:spcBef>
              <a:defRPr sz="1050">
                <a:solidFill>
                  <a:srgbClr val="6E6E69"/>
                </a:solidFill>
                <a:latin typeface="Malgun Gothic"/>
              </a:defRPr>
            </a:pPr>
            <a:r>
              <a:t>일러스트 / 비비드 팝 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8620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6E69"/>
                </a:solidFill>
                <a:latin typeface="Malgun Gothic"/>
              </a:defRPr>
            </a:pPr>
            <a:r>
              <a:t>박도현</a:t>
            </a:r>
          </a:p>
          <a:p>
            <a:pPr>
              <a:spcBef>
                <a:spcPts val="2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흐르는 형태</a:t>
            </a:r>
          </a:p>
          <a:p>
            <a:pPr>
              <a:spcBef>
                <a:spcPts val="400"/>
              </a:spcBef>
              <a:defRPr sz="1500" b="1">
                <a:solidFill>
                  <a:srgbClr val="1A56DB"/>
                </a:solidFill>
              </a:defRPr>
            </a:pPr>
            <a:r>
              <a:t>₩2,500,000</a:t>
            </a:r>
          </a:p>
          <a:p>
            <a:pPr>
              <a:spcBef>
                <a:spcPts val="400"/>
              </a:spcBef>
              <a:defRPr sz="1050">
                <a:solidFill>
                  <a:srgbClr val="6E6E69"/>
                </a:solidFill>
                <a:latin typeface="Malgun Gothic"/>
              </a:defRPr>
            </a:pPr>
            <a:r>
              <a:t>조각 / 백자토 미니멀 오브제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8620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6E69"/>
                </a:solidFill>
                <a:latin typeface="Malgun Gothic"/>
              </a:defRPr>
            </a:pPr>
            <a:r>
              <a:t>최은비</a:t>
            </a:r>
          </a:p>
          <a:p>
            <a:pPr>
              <a:spcBef>
                <a:spcPts val="2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골목의 시간</a:t>
            </a:r>
          </a:p>
          <a:p>
            <a:pPr>
              <a:spcBef>
                <a:spcPts val="400"/>
              </a:spcBef>
              <a:defRPr sz="1500" b="1">
                <a:solidFill>
                  <a:srgbClr val="1A56DB"/>
                </a:solidFill>
              </a:defRPr>
            </a:pPr>
            <a:r>
              <a:t>₩700,000</a:t>
            </a:r>
          </a:p>
          <a:p>
            <a:pPr>
              <a:spcBef>
                <a:spcPts val="400"/>
              </a:spcBef>
              <a:defRPr sz="1050">
                <a:solidFill>
                  <a:srgbClr val="6E6E69"/>
                </a:solidFill>
                <a:latin typeface="Malgun Gothic"/>
              </a:defRPr>
            </a:pPr>
            <a:r>
              <a:t>사진 / 서촌 흑백 다큐멘터리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86200"/>
            <a:ext cx="34134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40690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E6E69"/>
                </a:solidFill>
                <a:latin typeface="Malgun Gothic"/>
              </a:defRPr>
            </a:pPr>
            <a:r>
              <a:t>한지호</a:t>
            </a:r>
          </a:p>
          <a:p>
            <a:pPr>
              <a:spcBef>
                <a:spcPts val="2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여름의 결</a:t>
            </a:r>
          </a:p>
          <a:p>
            <a:pPr>
              <a:spcBef>
                <a:spcPts val="400"/>
              </a:spcBef>
              <a:defRPr sz="1500" b="1">
                <a:solidFill>
                  <a:srgbClr val="1A56DB"/>
                </a:solidFill>
              </a:defRPr>
            </a:pPr>
            <a:r>
              <a:t>₩1,600,000</a:t>
            </a:r>
          </a:p>
          <a:p>
            <a:pPr>
              <a:spcBef>
                <a:spcPts val="400"/>
              </a:spcBef>
              <a:defRPr sz="1050">
                <a:solidFill>
                  <a:srgbClr val="6E6E69"/>
                </a:solidFill>
                <a:latin typeface="Malgun Gothic"/>
              </a:defRPr>
            </a:pPr>
            <a:r>
              <a:t>회화 / 산자락 대형 유화 50호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BUSINESS MODEL</a:t>
            </a:r>
          </a:p>
          <a:p>
            <a:pPr>
              <a:spcBef>
                <a:spcPts val="400"/>
              </a:spcBef>
              <a:defRPr sz="2400" b="1">
                <a:solidFill>
                  <a:srgbClr val="181816"/>
                </a:solidFill>
                <a:latin typeface="Malgun Gothic"/>
              </a:defRPr>
            </a:pPr>
            <a:r>
              <a:t>지속 가능한 아트 생태계와 수익 모델</a:t>
            </a:r>
          </a:p>
          <a:p>
            <a:pPr>
              <a:spcBef>
                <a:spcPts val="400"/>
              </a:spcBef>
              <a:defRPr sz="1200">
                <a:solidFill>
                  <a:srgbClr val="6E6E69"/>
                </a:solidFill>
                <a:latin typeface="Malgun Gothic"/>
              </a:defRPr>
            </a:pPr>
            <a:r>
              <a:t>작가와 플랫폼, 컬렉터가 함께 성장하는 상생 구조를 지향합니다.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508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Malgun Gothic"/>
              </a:defRPr>
            </a:pPr>
            <a:r>
              <a:t>01. 원화 중개 수수료</a:t>
            </a:r>
          </a:p>
          <a:p>
            <a:pPr>
              <a:spcBef>
                <a:spcPts val="200"/>
              </a:spcBef>
              <a:defRPr sz="1200" b="1">
                <a:solidFill>
                  <a:srgbClr val="181816"/>
                </a:solidFill>
                <a:latin typeface="Malgun Gothic"/>
              </a:defRPr>
            </a:pPr>
            <a:r>
              <a:t>15~20%의 합리적 수수료</a:t>
            </a:r>
          </a:p>
          <a:p>
            <a:pPr>
              <a:spcBef>
                <a:spcPts val="600"/>
              </a:spcBef>
              <a:defRPr sz="1100">
                <a:solidFill>
                  <a:srgbClr val="6E6E69"/>
                </a:solidFill>
                <a:latin typeface="Malgun Gothic"/>
              </a:defRPr>
            </a:pPr>
            <a:r>
              <a:t>기존 오프라인 갤러리(40~50%) 대비 획기적으로 낮춘 작가 친화적 중개 수수료로 양질의 작품을 유치합니다.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508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Malgun Gothic"/>
              </a:defRPr>
            </a:pPr>
            <a:r>
              <a:t>02. 한정판 에디션 &amp; 아트 굿즈</a:t>
            </a:r>
          </a:p>
          <a:p>
            <a:pPr>
              <a:spcBef>
                <a:spcPts val="200"/>
              </a:spcBef>
              <a:defRPr sz="1200" b="1">
                <a:solidFill>
                  <a:srgbClr val="181816"/>
                </a:solidFill>
                <a:latin typeface="Malgun Gothic"/>
              </a:defRPr>
            </a:pPr>
            <a:r>
              <a:t>프린트 및 굿즈 커머스</a:t>
            </a:r>
          </a:p>
          <a:p>
            <a:pPr>
              <a:spcBef>
                <a:spcPts val="600"/>
              </a:spcBef>
              <a:defRPr sz="1100">
                <a:solidFill>
                  <a:srgbClr val="6E6E69"/>
                </a:solidFill>
                <a:latin typeface="Malgun Gothic"/>
              </a:defRPr>
            </a:pPr>
            <a:r>
              <a:t>원화 소장이 부담스러운 MZ 컬렉터를 위한 리미티드 에디션 판화, 포스터, 아트북 콜라보레이션 상품 판매.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51508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Malgun Gothic"/>
              </a:defRPr>
            </a:pPr>
            <a:r>
              <a:t>03. B2B 공간 아트 렌탈</a:t>
            </a:r>
          </a:p>
          <a:p>
            <a:pPr>
              <a:spcBef>
                <a:spcPts val="200"/>
              </a:spcBef>
              <a:defRPr sz="1200" b="1">
                <a:solidFill>
                  <a:srgbClr val="181816"/>
                </a:solidFill>
                <a:latin typeface="Malgun Gothic"/>
              </a:defRPr>
            </a:pPr>
            <a:r>
              <a:t>오피스·호텔 맞춤 큐레이션</a:t>
            </a:r>
          </a:p>
          <a:p>
            <a:pPr>
              <a:spcBef>
                <a:spcPts val="600"/>
              </a:spcBef>
              <a:defRPr sz="1100">
                <a:solidFill>
                  <a:srgbClr val="6E6E69"/>
                </a:solidFill>
                <a:latin typeface="Malgun Gothic"/>
              </a:defRPr>
            </a:pPr>
            <a:r>
              <a:t>기업 사옥, 프리미엄 카페, 호텔 라운지에 정기적으로 작품을 교체 전시하는 구독형 공간 아트 솔루션 제공.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508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  <a:latin typeface="Malgun Gothic"/>
              </a:defRPr>
            </a:pPr>
            <a:r>
              <a:t>04. 에디토리얼 브랜디드 콘텐츠</a:t>
            </a:r>
          </a:p>
          <a:p>
            <a:pPr>
              <a:spcBef>
                <a:spcPts val="200"/>
              </a:spcBef>
              <a:defRPr sz="1200" b="1">
                <a:solidFill>
                  <a:srgbClr val="181816"/>
                </a:solidFill>
                <a:latin typeface="Malgun Gothic"/>
              </a:defRPr>
            </a:pPr>
            <a:r>
              <a:t>매거진 &amp; 스폰서십</a:t>
            </a:r>
          </a:p>
          <a:p>
            <a:pPr>
              <a:spcBef>
                <a:spcPts val="600"/>
              </a:spcBef>
              <a:defRPr sz="1100">
                <a:solidFill>
                  <a:srgbClr val="6E6E69"/>
                </a:solidFill>
                <a:latin typeface="Malgun Gothic"/>
              </a:defRPr>
            </a:pPr>
            <a:r>
              <a:t>작가 심층 인터뷰, 컬렉팅 가이드 콘텐츠를 기반으로 한 아트 브랜드 제휴 및 프리미엄 프로모션.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56DB"/>
                </a:solidFill>
                <a:latin typeface="Arial"/>
              </a:defRPr>
            </a:pPr>
            <a:r>
              <a:t>ROADMAP &amp; VISION</a:t>
            </a:r>
          </a:p>
          <a:p>
            <a:pPr>
              <a:spcBef>
                <a:spcPts val="400"/>
              </a:spcBef>
              <a:defRPr sz="2400" b="1">
                <a:solidFill>
                  <a:srgbClr val="181816"/>
                </a:solidFill>
                <a:latin typeface="Malgun Gothic"/>
              </a:defRPr>
            </a:pPr>
            <a:r>
              <a:t>미래를 향한 로드맵: More Artists, A Brighter Tomorrow</a:t>
            </a:r>
          </a:p>
          <a:p>
            <a:pPr>
              <a:spcBef>
                <a:spcPts val="400"/>
              </a:spcBef>
              <a:defRPr sz="1200">
                <a:solidFill>
                  <a:srgbClr val="6E6E69"/>
                </a:solidFill>
                <a:latin typeface="Malgun Gothic"/>
              </a:defRPr>
            </a:pPr>
            <a:r>
              <a:t>온·오프라인의 경계를 넘어 국내외 미술 시장의 표준 플랫폼으로 도약합니다.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413455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29562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PHASE 1 (현재 완료)</a:t>
            </a:r>
          </a:p>
          <a:p>
            <a:pPr>
              <a:spcBef>
                <a:spcPts val="6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플랫폼 런칭 &amp; 생태계 구축</a:t>
            </a:r>
          </a:p>
          <a:p>
            <a:pPr>
              <a:spcBef>
                <a:spcPts val="1200"/>
              </a:spcBef>
              <a:defRPr sz="1150">
                <a:solidFill>
                  <a:srgbClr val="6E6E69"/>
                </a:solidFill>
                <a:latin typeface="Malgun Gothic"/>
              </a:defRPr>
            </a:pPr>
            <a:r>
              <a:t>• 데스크톱 웹 &amp; 모바일 피드 런칭</a:t>
            </a:r>
            <a:br/>
            <a:r>
              <a:t>• 등록 작가 1,200명 유치 완료</a:t>
            </a:r>
            <a:br/>
            <a:r>
              <a:t>• 투명한 소장 문의 프로세스 정립</a:t>
            </a:r>
            <a:br/>
            <a:r>
              <a:t>• 작가 프로필 허브 시스템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3455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19"/>
            <a:ext cx="29562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PHASE 2 (2026.4Q)</a:t>
            </a:r>
          </a:p>
          <a:p>
            <a:pPr>
              <a:spcBef>
                <a:spcPts val="6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스마트 큐레이션 고도화</a:t>
            </a:r>
          </a:p>
          <a:p>
            <a:pPr>
              <a:spcBef>
                <a:spcPts val="1200"/>
              </a:spcBef>
              <a:defRPr sz="1150">
                <a:solidFill>
                  <a:srgbClr val="6E6E69"/>
                </a:solidFill>
                <a:latin typeface="Malgun Gothic"/>
              </a:defRPr>
            </a:pPr>
            <a:r>
              <a:t>• AI 기반 개인 취향 분석 추천 엔진</a:t>
            </a:r>
            <a:br/>
            <a:r>
              <a:t>• AR 카메라를 통한 벽면 가상 배치</a:t>
            </a:r>
            <a:br/>
            <a:r>
              <a:t>• 간편 전자 결제 &amp; 안심 배송 연동</a:t>
            </a:r>
            <a:br/>
            <a:r>
              <a:t>• 신진 작가 오프라인 기획전 개최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3413455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874519"/>
            <a:ext cx="29562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PHASE 3 (2027.1H)</a:t>
            </a:r>
          </a:p>
          <a:p>
            <a:pPr>
              <a:spcBef>
                <a:spcPts val="600"/>
              </a:spcBef>
              <a:defRPr sz="1600" b="1">
                <a:solidFill>
                  <a:srgbClr val="181816"/>
                </a:solidFill>
                <a:latin typeface="Malgun Gothic"/>
              </a:defRPr>
            </a:pPr>
            <a:r>
              <a:t>글로벌 확장 &amp; 아트페어</a:t>
            </a:r>
          </a:p>
          <a:p>
            <a:pPr>
              <a:spcBef>
                <a:spcPts val="1200"/>
              </a:spcBef>
              <a:defRPr sz="1150">
                <a:solidFill>
                  <a:srgbClr val="6E6E69"/>
                </a:solidFill>
                <a:latin typeface="Malgun Gothic"/>
              </a:defRPr>
            </a:pPr>
            <a:r>
              <a:t>• K-아트 글로벌 해외 배송 파이프라인</a:t>
            </a:r>
            <a:br/>
            <a:r>
              <a:t>• 자체 ARTPICK 온·오프라인 아트페어</a:t>
            </a:r>
            <a:br/>
            <a:r>
              <a:t>• 기업 B2B 아트 구독 서비스 본격화</a:t>
            </a:r>
            <a:br/>
            <a:r>
              <a:t>• 국내 최대 아트 커뮤니티 정착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486400"/>
            <a:ext cx="10545775" cy="822960"/>
          </a:xfrm>
          <a:prstGeom prst="roundRect">
            <a:avLst/>
          </a:prstGeom>
          <a:solidFill>
            <a:srgbClr val="181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ARTPICK — 작은 선택이 새로운 예술의 내일을 만듭니다.  |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